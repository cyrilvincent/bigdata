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37"/>
  </p:notesMasterIdLst>
  <p:handoutMasterIdLst>
    <p:handoutMasterId r:id="rId38"/>
  </p:handoutMasterIdLst>
  <p:sldIdLst>
    <p:sldId id="264" r:id="rId2"/>
    <p:sldId id="323" r:id="rId3"/>
    <p:sldId id="320" r:id="rId4"/>
    <p:sldId id="266" r:id="rId5"/>
    <p:sldId id="267" r:id="rId6"/>
    <p:sldId id="268" r:id="rId7"/>
    <p:sldId id="269" r:id="rId8"/>
    <p:sldId id="271" r:id="rId9"/>
    <p:sldId id="272" r:id="rId10"/>
    <p:sldId id="287" r:id="rId11"/>
    <p:sldId id="273" r:id="rId12"/>
    <p:sldId id="274" r:id="rId13"/>
    <p:sldId id="275" r:id="rId14"/>
    <p:sldId id="276" r:id="rId15"/>
    <p:sldId id="336" r:id="rId16"/>
    <p:sldId id="277" r:id="rId17"/>
    <p:sldId id="348" r:id="rId18"/>
    <p:sldId id="293" r:id="rId19"/>
    <p:sldId id="319" r:id="rId20"/>
    <p:sldId id="278" r:id="rId21"/>
    <p:sldId id="279" r:id="rId22"/>
    <p:sldId id="281" r:id="rId23"/>
    <p:sldId id="283" r:id="rId24"/>
    <p:sldId id="349" r:id="rId25"/>
    <p:sldId id="314" r:id="rId26"/>
    <p:sldId id="383" r:id="rId27"/>
    <p:sldId id="384" r:id="rId28"/>
    <p:sldId id="386" r:id="rId29"/>
    <p:sldId id="380" r:id="rId30"/>
    <p:sldId id="367" r:id="rId31"/>
    <p:sldId id="377" r:id="rId32"/>
    <p:sldId id="394" r:id="rId33"/>
    <p:sldId id="322" r:id="rId34"/>
    <p:sldId id="340" r:id="rId35"/>
    <p:sldId id="341" r:id="rId36"/>
  </p:sldIdLst>
  <p:sldSz cx="9144000" cy="6858000" type="screen4x3"/>
  <p:notesSz cx="6648450" cy="9782175"/>
  <p:defaultTextStyle>
    <a:defPPr>
      <a:defRPr lang="fr-FR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81">
          <p15:clr>
            <a:srgbClr val="A4A3A4"/>
          </p15:clr>
        </p15:guide>
        <p15:guide id="2" pos="209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590" autoAdjust="0"/>
  </p:normalViewPr>
  <p:slideViewPr>
    <p:cSldViewPr>
      <p:cViewPr varScale="1">
        <p:scale>
          <a:sx n="67" d="100"/>
          <a:sy n="67" d="100"/>
        </p:scale>
        <p:origin x="1500" y="28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6918"/>
    </p:cViewPr>
  </p:sorterViewPr>
  <p:notesViewPr>
    <p:cSldViewPr>
      <p:cViewPr>
        <p:scale>
          <a:sx n="100" d="100"/>
          <a:sy n="100" d="100"/>
        </p:scale>
        <p:origin x="-924" y="2430"/>
      </p:cViewPr>
      <p:guideLst>
        <p:guide orient="horz" pos="3081"/>
        <p:guide pos="209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1000">
                <a:latin typeface="Arial" charset="0"/>
              </a:defRPr>
            </a:lvl1pPr>
          </a:lstStyle>
          <a:p>
            <a:pPr>
              <a:defRPr/>
            </a:pPr>
            <a:fld id="{05A6847E-ECD8-4888-9A6C-CBE85B378C12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943995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366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95.52325" units="1/cm"/>
          <inkml:channelProperty channel="Y" name="resolution" value="55.95855" units="1/cm"/>
          <inkml:channelProperty channel="T" name="resolution" value="1" units="1/dev"/>
        </inkml:channelProperties>
      </inkml:inkSource>
      <inkml:timestamp xml:id="ts0" timeString="2025-07-25T09:07:01.43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20141 6052 0,'-25'0'78,"-471"0"-47,-496 75 0,124 123 0,768-148-15,1 24 0,-25 25-1,0 149 1,-25-24 0,25-26-1,99-74-15,25-49 16,-24 148-1,24-25 1,0 1 0,0-1-1,0 50 1,0 25 15,99 99-15,124 25-1,50-25 1,49-124 0,1-49-1,-249-175-15,224 76 16,173-26 0,-49-74-1,74 0 1,-74-99-1,-1-50 1,-123 75 0,-199-1 15,-74 75-31,0-25 16,0-24-1,-25-1-15,24 0 16,76-173-1,-51-124 1,-49-50 0,0-149-1,-25 125 1,-74-51 0,-74 26-1,49-1 1,-25 125-1,-50 49 1,-74 0 0,199 199-1,-174-149-15,50 24 32,24 26-17,75 73 1,49 76-1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15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76300" y="733425"/>
            <a:ext cx="4895850" cy="36703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379413" y="4646613"/>
            <a:ext cx="5851525" cy="4402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256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© HANDSHAKE - Philippe MASINA</a:t>
            </a:r>
          </a:p>
        </p:txBody>
      </p:sp>
      <p:sp>
        <p:nvSpPr>
          <p:cNvPr id="256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I-</a:t>
            </a:r>
            <a:fld id="{88B410AF-14E7-4D87-8C8E-6E377E0C238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022458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2118913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87624" y="13209"/>
            <a:ext cx="7829947" cy="1143000"/>
          </a:xfrm>
        </p:spPr>
        <p:txBody>
          <a:bodyPr/>
          <a:lstStyle>
            <a:lvl1pPr>
              <a:defRPr sz="3200"/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9512" y="1412776"/>
            <a:ext cx="8766051" cy="5040560"/>
          </a:xfrm>
        </p:spPr>
        <p:txBody>
          <a:bodyPr/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0103424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11731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1355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38927567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568818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3664286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0620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8558998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371934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4254946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7002463" y="457200"/>
            <a:ext cx="1943100" cy="56388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1173163" y="457200"/>
            <a:ext cx="5676900" cy="56388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716717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6477000"/>
            <a:ext cx="9144000" cy="76200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endParaRPr lang="fr-FR" altLang="fr-FR"/>
          </a:p>
        </p:txBody>
      </p:sp>
      <p:sp>
        <p:nvSpPr>
          <p:cNvPr id="1027" name="Text Box 3"/>
          <p:cNvSpPr txBox="1">
            <a:spLocks noChangeArrowheads="1"/>
          </p:cNvSpPr>
          <p:nvPr/>
        </p:nvSpPr>
        <p:spPr bwMode="auto">
          <a:xfrm>
            <a:off x="6934200" y="6553200"/>
            <a:ext cx="12192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 dirty="0"/>
              <a:t>Page </a:t>
            </a:r>
            <a:fld id="{E218E9B1-FD08-4C80-902E-210BA2967D0D}" type="slidenum">
              <a:rPr lang="fr-FR" sz="1200" smtClean="0"/>
              <a:pPr>
                <a:spcBef>
                  <a:spcPct val="50000"/>
                </a:spcBef>
                <a:defRPr/>
              </a:pPr>
              <a:t>‹N°›</a:t>
            </a:fld>
            <a:endParaRPr lang="fr-FR" dirty="0">
              <a:latin typeface="Times New Roman" pitchFamily="18" charset="0"/>
            </a:endParaRPr>
          </a:p>
        </p:txBody>
      </p:sp>
      <p:sp>
        <p:nvSpPr>
          <p:cNvPr id="1028" name="Text Box 4"/>
          <p:cNvSpPr txBox="1">
            <a:spLocks noChangeArrowheads="1"/>
          </p:cNvSpPr>
          <p:nvPr/>
        </p:nvSpPr>
        <p:spPr bwMode="auto">
          <a:xfrm>
            <a:off x="2209800" y="6553200"/>
            <a:ext cx="4724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fr-FR" sz="1600" dirty="0"/>
              <a:t>Python</a:t>
            </a:r>
            <a:endParaRPr lang="fr-FR" dirty="0">
              <a:latin typeface="Times New Roman" pitchFamily="18" charset="0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1177925" y="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 style du titre du masque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9388" y="1196975"/>
            <a:ext cx="8766175" cy="528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les styles du texte du masque</a:t>
            </a:r>
          </a:p>
          <a:p>
            <a:pPr lvl="1"/>
            <a:r>
              <a:rPr lang="fr-FR" altLang="fr-FR"/>
              <a:t>Deuxième niveau</a:t>
            </a:r>
          </a:p>
          <a:p>
            <a:pPr lvl="2"/>
            <a:r>
              <a:rPr lang="fr-FR" altLang="fr-FR"/>
              <a:t>Troisième niveau</a:t>
            </a:r>
          </a:p>
          <a:p>
            <a:pPr lvl="3"/>
            <a:r>
              <a:rPr lang="fr-FR" altLang="fr-FR"/>
              <a:t>Quatrième niveau</a:t>
            </a:r>
          </a:p>
          <a:p>
            <a:pPr lvl="4"/>
            <a:r>
              <a:rPr lang="fr-FR" altLang="fr-FR"/>
              <a:t>Cinquième niveau</a:t>
            </a:r>
          </a:p>
        </p:txBody>
      </p:sp>
      <p:sp>
        <p:nvSpPr>
          <p:cNvPr id="1031" name="Text Box 7"/>
          <p:cNvSpPr txBox="1">
            <a:spLocks noChangeArrowheads="1"/>
          </p:cNvSpPr>
          <p:nvPr/>
        </p:nvSpPr>
        <p:spPr bwMode="auto">
          <a:xfrm>
            <a:off x="0" y="6521450"/>
            <a:ext cx="34290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/>
              <a:t>© Cyril Vincent Conseil</a:t>
            </a:r>
            <a:endParaRPr lang="fr-FR">
              <a:latin typeface="Times New Roman" pitchFamily="18" charset="0"/>
            </a:endParaRPr>
          </a:p>
        </p:txBody>
      </p:sp>
      <p:pic>
        <p:nvPicPr>
          <p:cNvPr id="1032" name="Picture 8" descr="cartevisite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8745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Monotype Sorts" pitchFamily="2" charset="2"/>
        <a:buChar char="o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5.png"/><Relationship Id="rId4" Type="http://schemas.openxmlformats.org/officeDocument/2006/relationships/customXml" Target="../ink/ink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5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fr-FR" altLang="fr-FR" dirty="0"/>
              <a:t>Chapitre 11</a:t>
            </a:r>
          </a:p>
          <a:p>
            <a:pPr eaLnBrk="1" hangingPunct="1"/>
            <a:r>
              <a:rPr lang="fr-FR" altLang="fr-FR" dirty="0"/>
              <a:t>Machine Learning</a:t>
            </a:r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4437" y="5023445"/>
            <a:ext cx="6715125" cy="1285875"/>
          </a:xfrm>
          <a:prstGeom prst="rect">
            <a:avLst/>
          </a:prstGeom>
        </p:spPr>
      </p:pic>
      <p:sp>
        <p:nvSpPr>
          <p:cNvPr id="3" name="ZoneTexte 2"/>
          <p:cNvSpPr txBox="1"/>
          <p:nvPr/>
        </p:nvSpPr>
        <p:spPr>
          <a:xfrm>
            <a:off x="3107495" y="2132856"/>
            <a:ext cx="292900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600" dirty="0"/>
              <a:t>Data Science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B42ED8F-11AB-C149-14DE-0ECEEA2E5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164126B-6D65-4283-A1F1-8A8BB03CBF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1026" name="Picture 2" descr="1_hfyjxxcfingbcyzcgksaiq">
            <a:extLst>
              <a:ext uri="{FF2B5EF4-FFF2-40B4-BE49-F238E27FC236}">
                <a16:creationId xmlns:a16="http://schemas.microsoft.com/office/drawing/2014/main" id="{0248DE54-DD5F-56BD-F121-1923D3F596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48" y="1156208"/>
            <a:ext cx="9123224" cy="52251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01384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IA - ML - DL</a:t>
            </a:r>
          </a:p>
        </p:txBody>
      </p:sp>
      <p:pic>
        <p:nvPicPr>
          <p:cNvPr id="1026" name="Picture 2" descr="https://www.mytectra.com/media/wysiwyg/Blog/deep-learning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08719"/>
            <a:ext cx="9144000" cy="5816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734152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1</a:t>
            </a:r>
            <a:r>
              <a:rPr lang="fr-FR" baseline="30000" dirty="0"/>
              <a:t>ère</a:t>
            </a:r>
            <a:r>
              <a:rPr lang="fr-FR" dirty="0"/>
              <a:t> étape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Trouver les données</a:t>
            </a:r>
          </a:p>
          <a:p>
            <a:pPr lvl="1"/>
            <a:r>
              <a:rPr lang="fr-FR" dirty="0"/>
              <a:t>Mise à disposition d’un data </a:t>
            </a:r>
            <a:r>
              <a:rPr lang="fr-FR" dirty="0" err="1"/>
              <a:t>lake</a:t>
            </a:r>
            <a:r>
              <a:rPr lang="fr-FR" dirty="0"/>
              <a:t> ou d’un data </a:t>
            </a:r>
            <a:r>
              <a:rPr lang="fr-FR" dirty="0" err="1"/>
              <a:t>mart</a:t>
            </a:r>
            <a:endParaRPr lang="fr-FR" dirty="0"/>
          </a:p>
          <a:p>
            <a:r>
              <a:rPr lang="fr-FR" dirty="0"/>
              <a:t>Le jeu de données utilisé en machine </a:t>
            </a:r>
            <a:r>
              <a:rPr lang="fr-FR" dirty="0" err="1"/>
              <a:t>learning</a:t>
            </a:r>
            <a:r>
              <a:rPr lang="fr-FR" dirty="0"/>
              <a:t> s’appel le </a:t>
            </a:r>
            <a:r>
              <a:rPr lang="fr-FR" dirty="0" err="1"/>
              <a:t>Dataset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410759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But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En machine </a:t>
            </a:r>
            <a:r>
              <a:rPr lang="fr-FR" dirty="0" err="1"/>
              <a:t>learning</a:t>
            </a:r>
            <a:r>
              <a:rPr lang="fr-FR" dirty="0"/>
              <a:t> et en data science plus généralement, l'objectif est de trouver un modèle du phénomène à l'origine des données</a:t>
            </a:r>
          </a:p>
          <a:p>
            <a:r>
              <a:rPr lang="fr-FR" dirty="0"/>
              <a:t>C'est à dire qu'on considère que chaque donnée observée est l'expression d'une variable aléatoire générée par une distribution de probabilité</a:t>
            </a:r>
          </a:p>
          <a:p>
            <a:pPr lvl="1"/>
            <a:r>
              <a:rPr lang="fr-FR"/>
              <a:t>Par exemple les sondages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2829163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Exemple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Imaginez que vous voulez savoir si vous payez trop cher votre loyer</a:t>
            </a:r>
          </a:p>
          <a:p>
            <a:r>
              <a:rPr lang="fr-FR" dirty="0"/>
              <a:t>Vous avez récupéré sur un site de location une trentaine de prix des locations disponibles, ainsi que la surface associée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2040" y="4149080"/>
            <a:ext cx="2809875" cy="2038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00968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Graphique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Surface / Loyer</a:t>
            </a:r>
          </a:p>
        </p:txBody>
      </p:sp>
      <p:pic>
        <p:nvPicPr>
          <p:cNvPr id="1028" name="Picture 4" descr="Le loyer mensuel en fonction de la surface du logemen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2060848"/>
            <a:ext cx="5688632" cy="39314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626392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Régression linéaire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Notre exemple montre une régression linéaire</a:t>
            </a:r>
          </a:p>
          <a:p>
            <a:pPr lvl="1"/>
            <a:r>
              <a:rPr lang="fr-FR" dirty="0"/>
              <a:t>f(x) = </a:t>
            </a:r>
            <a:r>
              <a:rPr lang="fr-FR" dirty="0" err="1"/>
              <a:t>ax</a:t>
            </a:r>
            <a:r>
              <a:rPr lang="fr-FR" dirty="0"/>
              <a:t> + b</a:t>
            </a:r>
          </a:p>
          <a:p>
            <a:endParaRPr lang="fr-FR" dirty="0"/>
          </a:p>
        </p:txBody>
      </p:sp>
      <p:pic>
        <p:nvPicPr>
          <p:cNvPr id="2056" name="Picture 8" descr="la droite de régression correspondant à la modélisation statistique du nuage de point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671" y="2420888"/>
            <a:ext cx="5212067" cy="36484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666377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Erreur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Un écart type et un taux de confiance peut être calculé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Exemple : taux de confiance à 90%</a:t>
            </a:r>
          </a:p>
        </p:txBody>
      </p:sp>
      <p:pic>
        <p:nvPicPr>
          <p:cNvPr id="3074" name="Picture 2" descr="l'intervalle de confiance (à 90%) que les point se trouvent dans cette zon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736" y="2276872"/>
            <a:ext cx="4286250" cy="3000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689216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Classification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Une autre distinction qui vous aidera dans le choix d'un algorithme de machine </a:t>
            </a:r>
            <a:r>
              <a:rPr lang="fr-FR" dirty="0" err="1"/>
              <a:t>learning</a:t>
            </a:r>
            <a:r>
              <a:rPr lang="fr-FR" dirty="0"/>
              <a:t> est le type de sortie que l'on attend de notre programme</a:t>
            </a:r>
          </a:p>
          <a:p>
            <a:pPr lvl="1"/>
            <a:r>
              <a:rPr lang="fr-FR" dirty="0"/>
              <a:t>Est-ce une valeur continue (un nombre)</a:t>
            </a:r>
          </a:p>
          <a:p>
            <a:pPr lvl="1"/>
            <a:r>
              <a:rPr lang="fr-FR" dirty="0"/>
              <a:t>ou bien une valeur discrète (une catégorie) ?</a:t>
            </a:r>
          </a:p>
          <a:p>
            <a:r>
              <a:rPr lang="fr-FR" dirty="0"/>
              <a:t>Le premier cas est appelé une régression, le second une classification</a:t>
            </a:r>
          </a:p>
        </p:txBody>
      </p:sp>
      <p:pic>
        <p:nvPicPr>
          <p:cNvPr id="1026" name="Picture 2" descr="Illustration de la différence entre régression et classificatio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7744" y="4591645"/>
            <a:ext cx="4286250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465263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Trouver le bon modèle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Pour résumer, le travail de modélisation consiste à trouver le bon modèle statistique qui colle le mieux aux données d'exemple</a:t>
            </a:r>
          </a:p>
          <a:p>
            <a:r>
              <a:rPr lang="fr-FR" dirty="0"/>
              <a:t>Le machine </a:t>
            </a:r>
            <a:r>
              <a:rPr lang="fr-FR" dirty="0" err="1"/>
              <a:t>learning</a:t>
            </a:r>
            <a:r>
              <a:rPr lang="fr-FR" dirty="0"/>
              <a:t> en particulier intervient pour trouver ce modèle de manière automatisée</a:t>
            </a:r>
          </a:p>
          <a:p>
            <a:r>
              <a:rPr lang="fr-FR" dirty="0"/>
              <a:t>Problème du quartet d’</a:t>
            </a:r>
            <a:r>
              <a:rPr lang="fr-FR" dirty="0" err="1"/>
              <a:t>Ascombe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48214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Quartet d’</a:t>
            </a:r>
            <a:r>
              <a:rPr lang="fr-FR" dirty="0" err="1"/>
              <a:t>Ascombe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Ces 4 modèles possède la même régression linéaire</a:t>
            </a:r>
          </a:p>
          <a:p>
            <a:pPr lvl="1"/>
            <a:r>
              <a:rPr lang="fr-FR" dirty="0"/>
              <a:t>Trouver les erreurs</a:t>
            </a:r>
          </a:p>
        </p:txBody>
      </p:sp>
      <p:pic>
        <p:nvPicPr>
          <p:cNvPr id="4098" name="Picture 2" descr="Le quartet d'anscomb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8833" y="2783429"/>
            <a:ext cx="6067407" cy="40530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816077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Machine Learning</a:t>
            </a:r>
          </a:p>
        </p:txBody>
      </p:sp>
      <p:pic>
        <p:nvPicPr>
          <p:cNvPr id="5122" name="Picture 2" descr="Nous ne nous intéresseront dans ces cours qu'à la création des algorithmes et modélisation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720" y="1156209"/>
            <a:ext cx="5453559" cy="40901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551904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Modélisation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Imaginez que vous êtes un data </a:t>
            </a:r>
            <a:r>
              <a:rPr lang="fr-FR" dirty="0" err="1"/>
              <a:t>scientist</a:t>
            </a:r>
            <a:endParaRPr lang="fr-FR" dirty="0"/>
          </a:p>
          <a:p>
            <a:pPr lvl="1"/>
            <a:r>
              <a:rPr lang="fr-FR" dirty="0"/>
              <a:t>Vous êtes maintenant confortable avec l'ensemble des données récupérées pour vos analyses</a:t>
            </a:r>
          </a:p>
          <a:p>
            <a:pPr lvl="1"/>
            <a:r>
              <a:rPr lang="fr-FR" dirty="0"/>
              <a:t>Vous avez une connaissance des objectifs principaux de l'entreprise, ce qui vous a aidé à synthétiser les différentes variables qui interviennent, ainsi que visualiser les différents comportements et corrélations présents au sein de ces données</a:t>
            </a:r>
          </a:p>
        </p:txBody>
      </p:sp>
    </p:spTree>
    <p:extLst>
      <p:ext uri="{BB962C8B-B14F-4D97-AF65-F5344CB8AC3E}">
        <p14:creationId xmlns:p14="http://schemas.microsoft.com/office/powerpoint/2010/main" val="12132846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Apprentissage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28650" y="2226469"/>
            <a:ext cx="4262005" cy="3263504"/>
          </a:xfrm>
        </p:spPr>
        <p:txBody>
          <a:bodyPr/>
          <a:lstStyle/>
          <a:p>
            <a:r>
              <a:rPr lang="fr-FR" dirty="0"/>
              <a:t>En </a:t>
            </a:r>
            <a:r>
              <a:rPr lang="fr-FR" dirty="0" err="1"/>
              <a:t>Deep</a:t>
            </a:r>
            <a:r>
              <a:rPr lang="fr-FR" dirty="0"/>
              <a:t> Learning, l'idée est que l'algorithme construise une "représentation interne" tout seul </a:t>
            </a:r>
          </a:p>
          <a:p>
            <a:pPr lvl="1"/>
            <a:r>
              <a:rPr lang="fr-FR" dirty="0"/>
              <a:t>L’être humain est quasiment incapable d’écrire l’algorithme</a:t>
            </a:r>
          </a:p>
          <a:p>
            <a:r>
              <a:rPr lang="fr-FR" dirty="0"/>
              <a:t>Pour cela, il va d'abord falloir lui entrer un jeu de données d'exemples afin qu'il puisse s'entraîner</a:t>
            </a:r>
          </a:p>
          <a:p>
            <a:endParaRPr lang="fr-FR" dirty="0"/>
          </a:p>
        </p:txBody>
      </p:sp>
      <p:pic>
        <p:nvPicPr>
          <p:cNvPr id="5122" name="Picture 2" descr="MNIST - Lecture de la base de chiffres manuscrits | Intelligence  Artificielle">
            <a:extLst>
              <a:ext uri="{FF2B5EF4-FFF2-40B4-BE49-F238E27FC236}">
                <a16:creationId xmlns:a16="http://schemas.microsoft.com/office/drawing/2014/main" id="{1A4D7DB9-6909-4529-A857-5E2BF0ACA2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2050" y="2280914"/>
            <a:ext cx="4171950" cy="27646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995828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Apprentissage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En machine </a:t>
            </a:r>
            <a:r>
              <a:rPr lang="fr-FR" dirty="0" err="1"/>
              <a:t>learning</a:t>
            </a:r>
            <a:r>
              <a:rPr lang="fr-FR" dirty="0"/>
              <a:t>, l'idée est que l'algorithme construise une "représentation interne" tout seul afin de pouvoir effectuer la tâche qui lui est demandée (prédiction, identification, </a:t>
            </a:r>
            <a:r>
              <a:rPr lang="fr-FR" dirty="0" err="1"/>
              <a:t>etc</a:t>
            </a:r>
            <a:r>
              <a:rPr lang="fr-FR" dirty="0"/>
              <a:t>)</a:t>
            </a:r>
          </a:p>
          <a:p>
            <a:r>
              <a:rPr lang="fr-FR" dirty="0"/>
              <a:t>L’être humain est quasiment incapable d’écrire l’algorithme</a:t>
            </a:r>
          </a:p>
          <a:p>
            <a:r>
              <a:rPr lang="fr-FR" dirty="0"/>
              <a:t>Pour cela, il va d'abord falloir lui entrer un jeu de données d'exemples afin qu'il puisse s'entraîner et s'améliorer, d'où le mot apprentissage</a:t>
            </a:r>
          </a:p>
          <a:p>
            <a:r>
              <a:rPr lang="fr-FR" dirty="0"/>
              <a:t>Ce jeu de données s'appelle le training set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968912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E9D51E5-13D3-4051-959E-71DF657579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Prédiction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AE44763-AE4C-46F7-BB16-F40FA40A1A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Une fois l'apprentissage effectué le modèle est capable d'effectuer des prédictions sur des nouvelles données</a:t>
            </a:r>
          </a:p>
        </p:txBody>
      </p:sp>
      <p:pic>
        <p:nvPicPr>
          <p:cNvPr id="4098" name="Picture 2" descr="Applied Sciences | Free Full-Text | A Survey of Handwritten Character  Recognition with MNIST and EMNIST | HTML">
            <a:extLst>
              <a:ext uri="{FF2B5EF4-FFF2-40B4-BE49-F238E27FC236}">
                <a16:creationId xmlns:a16="http://schemas.microsoft.com/office/drawing/2014/main" id="{FE728249-27BB-4C95-91AD-87A5086EAF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8396" y="2947082"/>
            <a:ext cx="4847208" cy="25428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097391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But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28650" y="2040037"/>
            <a:ext cx="7886700" cy="3263504"/>
          </a:xfrm>
        </p:spPr>
        <p:txBody>
          <a:bodyPr/>
          <a:lstStyle/>
          <a:p>
            <a:r>
              <a:rPr lang="fr-FR" dirty="0"/>
              <a:t>En Machine Learning, l'objectif est de trouver un modèle mathématique du phénomène à l'origine des données par apprentissage</a:t>
            </a:r>
          </a:p>
        </p:txBody>
      </p:sp>
      <p:pic>
        <p:nvPicPr>
          <p:cNvPr id="1026" name="Picture 2" descr="Machine learning en E-commerce : une expérience client optimale - Arkheus">
            <a:extLst>
              <a:ext uri="{FF2B5EF4-FFF2-40B4-BE49-F238E27FC236}">
                <a16:creationId xmlns:a16="http://schemas.microsoft.com/office/drawing/2014/main" id="{AB55968D-DE43-4613-BCDF-B4584C3687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5816" y="3501008"/>
            <a:ext cx="3515592" cy="24872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001633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Machine Learning </a:t>
            </a:r>
            <a:r>
              <a:rPr lang="fr-FR"/>
              <a:t>vs Programmation</a:t>
            </a:r>
            <a:endParaRPr lang="fr-FR" dirty="0"/>
          </a:p>
        </p:txBody>
      </p:sp>
      <p:pic>
        <p:nvPicPr>
          <p:cNvPr id="1026" name="Picture 2" descr="https://dpzbhybb2pdcj.cloudfront.net/allaire/Figures/01fig0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712" y="2420888"/>
            <a:ext cx="6048672" cy="30694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9815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Exemple</a:t>
            </a:r>
          </a:p>
        </p:txBody>
      </p:sp>
      <p:pic>
        <p:nvPicPr>
          <p:cNvPr id="6146" name="Picture 2" descr="Un exemple de jeu de données classique (appelé CIFAR-10) qui permet d'entraîner un modèle de machine learnin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0716" y="1156209"/>
            <a:ext cx="6697627" cy="51779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944257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Workflow</a:t>
            </a:r>
          </a:p>
        </p:txBody>
      </p:sp>
      <p:pic>
        <p:nvPicPr>
          <p:cNvPr id="7170" name="Picture 2" descr="Un détail de des deux phases du process de machine learning.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1268760"/>
            <a:ext cx="6902073" cy="46788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9719881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L'algorithme d'apprentissage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L'algorithme d'apprentissage constitue la méthode avec laquelle le modèle statistique va se paramétrer à partir des données d'exemple</a:t>
            </a:r>
          </a:p>
          <a:p>
            <a:pPr lvl="1"/>
            <a:r>
              <a:rPr lang="fr-FR" dirty="0"/>
              <a:t>Il existe de nombreux algorithmes différents !</a:t>
            </a:r>
          </a:p>
          <a:p>
            <a:pPr lvl="1"/>
            <a:r>
              <a:rPr lang="fr-FR" dirty="0"/>
              <a:t>On choisira un type d'algorithme particulier en fonction du type de tâche que l'on souhaite accomplir et du type de données dont on dispose</a:t>
            </a:r>
          </a:p>
        </p:txBody>
      </p:sp>
    </p:spTree>
    <p:extLst>
      <p:ext uri="{BB962C8B-B14F-4D97-AF65-F5344CB8AC3E}">
        <p14:creationId xmlns:p14="http://schemas.microsoft.com/office/powerpoint/2010/main" val="183449102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Exemples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Quelques exemples d'algorithmes de machine </a:t>
            </a:r>
            <a:r>
              <a:rPr lang="fr-FR" dirty="0" err="1"/>
              <a:t>learning</a:t>
            </a:r>
            <a:r>
              <a:rPr lang="fr-FR" dirty="0"/>
              <a:t>, dont vous avez peut-être déjà entendu parler :</a:t>
            </a:r>
          </a:p>
          <a:p>
            <a:pPr lvl="1"/>
            <a:r>
              <a:rPr lang="fr-FR" dirty="0"/>
              <a:t>La régression linéaire</a:t>
            </a:r>
          </a:p>
          <a:p>
            <a:pPr lvl="1"/>
            <a:r>
              <a:rPr lang="fr-FR" dirty="0" err="1"/>
              <a:t>K-nn</a:t>
            </a:r>
            <a:endParaRPr lang="fr-FR" dirty="0"/>
          </a:p>
          <a:p>
            <a:pPr lvl="1"/>
            <a:r>
              <a:rPr lang="fr-FR" dirty="0"/>
              <a:t>Les Support </a:t>
            </a:r>
            <a:r>
              <a:rPr lang="fr-FR" dirty="0" err="1"/>
              <a:t>Vector</a:t>
            </a:r>
            <a:r>
              <a:rPr lang="fr-FR" dirty="0"/>
              <a:t> Machine (SVM)</a:t>
            </a:r>
          </a:p>
          <a:p>
            <a:pPr lvl="1"/>
            <a:r>
              <a:rPr lang="fr-FR" dirty="0"/>
              <a:t>Les réseaux de neurones</a:t>
            </a:r>
          </a:p>
          <a:p>
            <a:pPr lvl="1"/>
            <a:r>
              <a:rPr lang="fr-FR" dirty="0"/>
              <a:t>Les </a:t>
            </a:r>
            <a:r>
              <a:rPr lang="fr-FR" dirty="0" err="1"/>
              <a:t>random</a:t>
            </a:r>
            <a:r>
              <a:rPr lang="fr-FR" dirty="0"/>
              <a:t> </a:t>
            </a:r>
            <a:r>
              <a:rPr lang="fr-FR" dirty="0" err="1"/>
              <a:t>forests</a:t>
            </a:r>
            <a:endParaRPr lang="fr-FR" dirty="0"/>
          </a:p>
          <a:p>
            <a:pPr lvl="1"/>
            <a:r>
              <a:rPr lang="fr-FR" dirty="0"/>
              <a:t>etc.</a:t>
            </a:r>
          </a:p>
        </p:txBody>
      </p:sp>
    </p:spTree>
    <p:extLst>
      <p:ext uri="{BB962C8B-B14F-4D97-AF65-F5344CB8AC3E}">
        <p14:creationId xmlns:p14="http://schemas.microsoft.com/office/powerpoint/2010/main" val="415239901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B8B347E-A3C6-4FD1-B000-9BF2AD49E8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langages et </a:t>
            </a:r>
            <a:r>
              <a:rPr lang="fr-FR" dirty="0" err="1"/>
              <a:t>Frameworks</a:t>
            </a:r>
            <a:endParaRPr lang="fr-FR" dirty="0"/>
          </a:p>
        </p:txBody>
      </p:sp>
      <p:pic>
        <p:nvPicPr>
          <p:cNvPr id="6" name="Picture 2" descr="Python et intelligence artificielle">
            <a:extLst>
              <a:ext uri="{FF2B5EF4-FFF2-40B4-BE49-F238E27FC236}">
                <a16:creationId xmlns:a16="http://schemas.microsoft.com/office/drawing/2014/main" id="{FB769AA8-F524-42F6-A99C-EBEF407B4F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90680" y="3015391"/>
            <a:ext cx="3671455" cy="1989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TensorFlow — Wikipédia">
            <a:extLst>
              <a:ext uri="{FF2B5EF4-FFF2-40B4-BE49-F238E27FC236}">
                <a16:creationId xmlns:a16="http://schemas.microsoft.com/office/drawing/2014/main" id="{7B92E35F-DA87-4345-A44E-D4B0F99773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7541" y="1873856"/>
            <a:ext cx="1304594" cy="10871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Espace réservé du contenu 2">
            <a:extLst>
              <a:ext uri="{FF2B5EF4-FFF2-40B4-BE49-F238E27FC236}">
                <a16:creationId xmlns:a16="http://schemas.microsoft.com/office/drawing/2014/main" id="{C4E86258-C244-48B5-ADC8-901B50E0DF47}"/>
              </a:ext>
            </a:extLst>
          </p:cNvPr>
          <p:cNvSpPr txBox="1">
            <a:spLocks/>
          </p:cNvSpPr>
          <p:nvPr/>
        </p:nvSpPr>
        <p:spPr>
          <a:xfrm>
            <a:off x="217264" y="1851422"/>
            <a:ext cx="4670318" cy="378042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2400" dirty="0"/>
              <a:t>Apprentissage</a:t>
            </a:r>
          </a:p>
          <a:p>
            <a:pPr lvl="1"/>
            <a:r>
              <a:rPr lang="fr-FR" sz="2100" dirty="0"/>
              <a:t>Python</a:t>
            </a:r>
          </a:p>
          <a:p>
            <a:pPr lvl="1"/>
            <a:r>
              <a:rPr lang="fr-FR" sz="2100" dirty="0" err="1"/>
              <a:t>Scikit-learn</a:t>
            </a:r>
            <a:endParaRPr lang="fr-FR" sz="2100" dirty="0"/>
          </a:p>
          <a:p>
            <a:pPr lvl="2"/>
            <a:r>
              <a:rPr lang="fr-FR" sz="1500" dirty="0"/>
              <a:t>INRIA et Télécom ParisTech</a:t>
            </a:r>
          </a:p>
          <a:p>
            <a:pPr lvl="1"/>
            <a:r>
              <a:rPr lang="fr-FR" sz="2100" dirty="0" err="1"/>
              <a:t>TensorFlow</a:t>
            </a:r>
            <a:endParaRPr lang="fr-FR" sz="2100" dirty="0"/>
          </a:p>
          <a:p>
            <a:pPr lvl="2"/>
            <a:r>
              <a:rPr lang="fr-FR" sz="1500" dirty="0"/>
              <a:t>Google</a:t>
            </a:r>
          </a:p>
          <a:p>
            <a:pPr lvl="1"/>
            <a:r>
              <a:rPr lang="fr-FR" sz="1900" dirty="0" err="1"/>
              <a:t>PyTorch</a:t>
            </a:r>
            <a:endParaRPr lang="fr-FR" sz="1900" dirty="0"/>
          </a:p>
          <a:p>
            <a:pPr lvl="2"/>
            <a:r>
              <a:rPr lang="fr-FR" sz="1500" dirty="0"/>
              <a:t>Facebook</a:t>
            </a:r>
          </a:p>
          <a:p>
            <a:r>
              <a:rPr lang="fr-FR" sz="2400" dirty="0"/>
              <a:t>Prédiction</a:t>
            </a:r>
          </a:p>
          <a:p>
            <a:pPr lvl="1"/>
            <a:r>
              <a:rPr lang="fr-FR" sz="1800" dirty="0"/>
              <a:t>N'importe quel langage !</a:t>
            </a:r>
          </a:p>
          <a:p>
            <a:pPr lvl="1"/>
            <a:r>
              <a:rPr lang="fr-FR" sz="1800" dirty="0"/>
              <a:t>Embarqué : C++, JS, …</a:t>
            </a:r>
          </a:p>
          <a:p>
            <a:pPr lvl="1"/>
            <a:endParaRPr lang="fr-FR" sz="1500" dirty="0"/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E2C0264F-CF05-444C-A3C0-924199BBFE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0679" y="1873856"/>
            <a:ext cx="2300288" cy="5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989846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E89BEBE-6249-4EE9-A3DE-988A6532E1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</a:t>
            </a:r>
            <a:r>
              <a:rPr lang="fr-FR" dirty="0" err="1"/>
              <a:t>Frameworks</a:t>
            </a:r>
            <a:r>
              <a:rPr lang="fr-FR" dirty="0"/>
              <a:t> ML et DL</a:t>
            </a:r>
          </a:p>
        </p:txBody>
      </p:sp>
      <p:pic>
        <p:nvPicPr>
          <p:cNvPr id="1036" name="Picture 12">
            <a:extLst>
              <a:ext uri="{FF2B5EF4-FFF2-40B4-BE49-F238E27FC236}">
                <a16:creationId xmlns:a16="http://schemas.microsoft.com/office/drawing/2014/main" id="{CC81630E-520F-4640-A4D7-4C649ED090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4507" y="1851422"/>
            <a:ext cx="5938352" cy="34010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 descr="TensorFlow — Wikipédia">
            <a:extLst>
              <a:ext uri="{FF2B5EF4-FFF2-40B4-BE49-F238E27FC236}">
                <a16:creationId xmlns:a16="http://schemas.microsoft.com/office/drawing/2014/main" id="{C4B0032F-A73B-40A0-917F-E14A99B3F9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7934" y="2089516"/>
            <a:ext cx="1304594" cy="10871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4224008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ML vs DL</a:t>
            </a:r>
          </a:p>
        </p:txBody>
      </p:sp>
      <p:pic>
        <p:nvPicPr>
          <p:cNvPr id="1026" name="Picture 2" descr="RÃ©sultat de recherche d'images pour &quot;ia vs machine learning vs deep learning&quot;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2582" y="1556792"/>
            <a:ext cx="7040780" cy="3960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7906401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C2BC988-F01C-4106-917E-AE983E84B0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Cancer du sein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C968C33-4D93-4A91-AD97-0B3E2D5A02AA}"/>
              </a:ext>
            </a:extLst>
          </p:cNvPr>
          <p:cNvSpPr txBox="1">
            <a:spLocks/>
          </p:cNvSpPr>
          <p:nvPr/>
        </p:nvSpPr>
        <p:spPr>
          <a:xfrm>
            <a:off x="628650" y="2226469"/>
            <a:ext cx="7886700" cy="326350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2100" dirty="0"/>
              <a:t>Passage de l'image aux données</a:t>
            </a:r>
          </a:p>
          <a:p>
            <a:r>
              <a:rPr lang="fr-FR" sz="2100" dirty="0"/>
              <a:t>ML : par mesure</a:t>
            </a:r>
          </a:p>
          <a:p>
            <a:r>
              <a:rPr lang="fr-FR" sz="2100" dirty="0"/>
              <a:t>DL : automatique</a:t>
            </a:r>
          </a:p>
          <a:p>
            <a:endParaRPr lang="fr-FR" sz="2100" dirty="0"/>
          </a:p>
        </p:txBody>
      </p:sp>
      <p:pic>
        <p:nvPicPr>
          <p:cNvPr id="6146" name="Picture 2" descr="Breast Cancer Wisconsin (Diagnostic) Data Set | Kaggle">
            <a:extLst>
              <a:ext uri="{FF2B5EF4-FFF2-40B4-BE49-F238E27FC236}">
                <a16:creationId xmlns:a16="http://schemas.microsoft.com/office/drawing/2014/main" id="{1A9AFAFD-CD3C-43B3-9D8A-CF57300468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4100" y="857250"/>
            <a:ext cx="3189901" cy="3189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1A9DFB1C-CD6D-4914-B6FF-FFD47A8A86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3465648"/>
            <a:ext cx="9143999" cy="2463145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" name="Encre 3">
                <a:extLst>
                  <a:ext uri="{FF2B5EF4-FFF2-40B4-BE49-F238E27FC236}">
                    <a16:creationId xmlns:a16="http://schemas.microsoft.com/office/drawing/2014/main" id="{08A30A15-140F-195B-C6C9-6F46A81B7C7E}"/>
                  </a:ext>
                </a:extLst>
              </p14:cNvPr>
              <p14:cNvContentPartPr/>
              <p14:nvPr/>
            </p14:nvContentPartPr>
            <p14:xfrm>
              <a:off x="6116760" y="1803960"/>
              <a:ext cx="1616400" cy="1991520"/>
            </p14:xfrm>
          </p:contentPart>
        </mc:Choice>
        <mc:Fallback>
          <p:pic>
            <p:nvPicPr>
              <p:cNvPr id="4" name="Encre 3">
                <a:extLst>
                  <a:ext uri="{FF2B5EF4-FFF2-40B4-BE49-F238E27FC236}">
                    <a16:creationId xmlns:a16="http://schemas.microsoft.com/office/drawing/2014/main" id="{08A30A15-140F-195B-C6C9-6F46A81B7C7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107400" y="1794600"/>
                <a:ext cx="1635120" cy="2010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1159601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EDB1BA8-4C00-4F03-8B03-C2B0CF0328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ML vs DL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A67AD50-63BF-4A4C-84F3-1AA9CC5F79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dirty="0"/>
              <a:t>Machine Learning</a:t>
            </a:r>
          </a:p>
          <a:p>
            <a:pPr lvl="1"/>
            <a:r>
              <a:rPr lang="fr-FR" dirty="0"/>
              <a:t>Données numériques</a:t>
            </a:r>
          </a:p>
          <a:p>
            <a:pPr lvl="1"/>
            <a:r>
              <a:rPr lang="fr-FR" dirty="0"/>
              <a:t>Données déjà filtrées et extraites</a:t>
            </a:r>
          </a:p>
          <a:p>
            <a:pPr lvl="1"/>
            <a:r>
              <a:rPr lang="fr-FR" dirty="0"/>
              <a:t>Données tabulaires</a:t>
            </a:r>
          </a:p>
          <a:p>
            <a:pPr lvl="1"/>
            <a:r>
              <a:rPr lang="fr-FR" dirty="0"/>
              <a:t>Stockage : base de données SQL, fichiers CSV, TXT, XML, </a:t>
            </a:r>
            <a:r>
              <a:rPr lang="fr-FR" dirty="0" err="1"/>
              <a:t>datawharehouse</a:t>
            </a:r>
            <a:endParaRPr lang="fr-FR" dirty="0"/>
          </a:p>
          <a:p>
            <a:r>
              <a:rPr lang="fr-FR" dirty="0" err="1"/>
              <a:t>Deep</a:t>
            </a:r>
            <a:r>
              <a:rPr lang="fr-FR" dirty="0"/>
              <a:t> Learning</a:t>
            </a:r>
          </a:p>
          <a:p>
            <a:pPr lvl="1"/>
            <a:r>
              <a:rPr lang="fr-FR" dirty="0"/>
              <a:t>Données brutes ou peu structurées</a:t>
            </a:r>
          </a:p>
          <a:p>
            <a:pPr lvl="1"/>
            <a:r>
              <a:rPr lang="fr-FR" dirty="0"/>
              <a:t>Images, Son, Vidéo, Signaux électromagnétiques</a:t>
            </a:r>
          </a:p>
          <a:p>
            <a:pPr lvl="1"/>
            <a:r>
              <a:rPr lang="fr-FR" dirty="0"/>
              <a:t>Langage naturel, traduction, moteur de recherche</a:t>
            </a:r>
          </a:p>
          <a:p>
            <a:pPr lvl="1"/>
            <a:r>
              <a:rPr lang="fr-FR" dirty="0"/>
              <a:t>Stockage : base de données SQL, file system, big data</a:t>
            </a:r>
          </a:p>
        </p:txBody>
      </p:sp>
    </p:spTree>
    <p:extLst>
      <p:ext uri="{BB962C8B-B14F-4D97-AF65-F5344CB8AC3E}">
        <p14:creationId xmlns:p14="http://schemas.microsoft.com/office/powerpoint/2010/main" val="379764473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D3A798C-3205-8B9D-2E1A-746C6CF2CF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PyTorch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B8D4E77-DBDD-07A2-5EF9-451BBE705E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Framework concurrent à </a:t>
            </a:r>
            <a:r>
              <a:rPr lang="fr-FR" dirty="0" err="1"/>
              <a:t>Tensorflow</a:t>
            </a:r>
            <a:endParaRPr lang="fr-FR" dirty="0"/>
          </a:p>
          <a:p>
            <a:r>
              <a:rPr lang="fr-FR" dirty="0"/>
              <a:t>Facebook</a:t>
            </a:r>
          </a:p>
          <a:p>
            <a:r>
              <a:rPr lang="fr-FR" dirty="0"/>
              <a:t>Très utilisé dans les LLM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6722471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Vocabulaire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sz="2400" dirty="0" err="1"/>
              <a:t>TrainingSet</a:t>
            </a:r>
            <a:endParaRPr lang="fr-FR" sz="2400" dirty="0"/>
          </a:p>
          <a:p>
            <a:pPr lvl="1"/>
            <a:r>
              <a:rPr lang="fr-FR" sz="2000" dirty="0"/>
              <a:t>Jeux d’entrainement</a:t>
            </a:r>
          </a:p>
          <a:p>
            <a:pPr lvl="1"/>
            <a:r>
              <a:rPr lang="fr-FR" sz="2000" dirty="0"/>
              <a:t>Calcul du </a:t>
            </a:r>
            <a:r>
              <a:rPr lang="fr-FR" sz="2000" dirty="0" err="1"/>
              <a:t>Loss</a:t>
            </a:r>
            <a:endParaRPr lang="fr-FR" sz="2000" dirty="0"/>
          </a:p>
          <a:p>
            <a:r>
              <a:rPr lang="fr-FR" sz="2400" dirty="0" err="1"/>
              <a:t>ValidationSet</a:t>
            </a:r>
            <a:endParaRPr lang="fr-FR" sz="2400" dirty="0"/>
          </a:p>
          <a:p>
            <a:pPr lvl="1"/>
            <a:r>
              <a:rPr lang="fr-FR" sz="2000" dirty="0"/>
              <a:t>Jeux pour mesurer la qualité du modèle</a:t>
            </a:r>
          </a:p>
          <a:p>
            <a:pPr lvl="1"/>
            <a:r>
              <a:rPr lang="fr-FR" sz="2000" dirty="0"/>
              <a:t>Ne doit jamais être vu du modèle</a:t>
            </a:r>
          </a:p>
          <a:p>
            <a:r>
              <a:rPr lang="fr-FR" sz="2400" dirty="0" err="1"/>
              <a:t>TestSet</a:t>
            </a:r>
            <a:endParaRPr lang="fr-FR" sz="2400" dirty="0"/>
          </a:p>
          <a:p>
            <a:pPr lvl="1"/>
            <a:r>
              <a:rPr lang="fr-FR" sz="2000" dirty="0"/>
              <a:t>Recette finale</a:t>
            </a:r>
          </a:p>
          <a:p>
            <a:pPr lvl="1"/>
            <a:r>
              <a:rPr lang="fr-FR" sz="2000" dirty="0"/>
              <a:t>Ne doit jamais être vu des développeurs</a:t>
            </a:r>
          </a:p>
        </p:txBody>
      </p:sp>
    </p:spTree>
    <p:extLst>
      <p:ext uri="{BB962C8B-B14F-4D97-AF65-F5344CB8AC3E}">
        <p14:creationId xmlns:p14="http://schemas.microsoft.com/office/powerpoint/2010/main" val="152137059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Solidification du modèle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Il est possible de sauvegarder entièrement le modèle</a:t>
            </a:r>
          </a:p>
          <a:p>
            <a:pPr lvl="1"/>
            <a:r>
              <a:rPr lang="fr-FR" dirty="0"/>
              <a:t>Uniquement </a:t>
            </a:r>
            <a:r>
              <a:rPr lang="fr-FR" dirty="0" err="1"/>
              <a:t>Keras</a:t>
            </a:r>
            <a:r>
              <a:rPr lang="fr-FR" dirty="0"/>
              <a:t> H5</a:t>
            </a:r>
          </a:p>
          <a:p>
            <a:pPr lvl="1"/>
            <a:r>
              <a:rPr lang="fr-FR" dirty="0" err="1"/>
              <a:t>model.save</a:t>
            </a:r>
            <a:r>
              <a:rPr lang="fr-FR" dirty="0"/>
              <a:t>(file.h5)</a:t>
            </a:r>
          </a:p>
          <a:p>
            <a:pPr lvl="1"/>
            <a:r>
              <a:rPr lang="fr-FR" dirty="0"/>
              <a:t>model = </a:t>
            </a:r>
            <a:r>
              <a:rPr lang="fr-FR" dirty="0" err="1"/>
              <a:t>tf.keras.models.load_model</a:t>
            </a:r>
            <a:r>
              <a:rPr lang="fr-FR" dirty="0"/>
              <a:t>(file.h5)</a:t>
            </a:r>
          </a:p>
        </p:txBody>
      </p:sp>
    </p:spTree>
    <p:extLst>
      <p:ext uri="{BB962C8B-B14F-4D97-AF65-F5344CB8AC3E}">
        <p14:creationId xmlns:p14="http://schemas.microsoft.com/office/powerpoint/2010/main" val="188615572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53CA38B-3BB0-4629-BF22-7D4D4C6D29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enjeux 1/3</a:t>
            </a:r>
          </a:p>
        </p:txBody>
      </p:sp>
      <p:sp>
        <p:nvSpPr>
          <p:cNvPr id="7" name="Espace réservé du contenu 2">
            <a:extLst>
              <a:ext uri="{FF2B5EF4-FFF2-40B4-BE49-F238E27FC236}">
                <a16:creationId xmlns:a16="http://schemas.microsoft.com/office/drawing/2014/main" id="{62CAC85E-A812-47F9-A7C5-91F75568AA15}"/>
              </a:ext>
            </a:extLst>
          </p:cNvPr>
          <p:cNvSpPr txBox="1">
            <a:spLocks/>
          </p:cNvSpPr>
          <p:nvPr/>
        </p:nvSpPr>
        <p:spPr>
          <a:xfrm>
            <a:off x="628650" y="2226469"/>
            <a:ext cx="7886700" cy="326350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2100" b="1" dirty="0">
                <a:solidFill>
                  <a:srgbClr val="111111"/>
                </a:solidFill>
                <a:latin typeface="Arial" panose="020B0604020202020204" pitchFamily="34" charset="0"/>
              </a:rPr>
              <a:t>Constituer et donner accès à de très grands jeux de données de qualité</a:t>
            </a:r>
          </a:p>
          <a:p>
            <a:pPr lvl="1"/>
            <a:r>
              <a:rPr lang="fr-FR" sz="1800" dirty="0"/>
              <a:t>le principal facteur limitant à l’heure actuelle n’est pas la technologie mais l’accès à des données de qualité.</a:t>
            </a:r>
          </a:p>
          <a:p>
            <a:pPr lvl="1"/>
            <a:r>
              <a:rPr lang="fr-FR" sz="1800" dirty="0"/>
              <a:t>L’accès à des données massives, corrélées, complètes, qualifiées, historisées, est une clé technologique majeure de mise au point de technologies d’intelligence artificielle aujourd’hui</a:t>
            </a:r>
          </a:p>
        </p:txBody>
      </p:sp>
    </p:spTree>
    <p:extLst>
      <p:ext uri="{BB962C8B-B14F-4D97-AF65-F5344CB8AC3E}">
        <p14:creationId xmlns:p14="http://schemas.microsoft.com/office/powerpoint/2010/main" val="51836766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nouvelles sources de données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dirty="0"/>
          </a:p>
        </p:txBody>
      </p:sp>
      <p:pic>
        <p:nvPicPr>
          <p:cNvPr id="1026" name="Picture 2" descr="Nouvelles sources de données Big Dat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9682" y="2186862"/>
            <a:ext cx="5837663" cy="32690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9122377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53CA38B-3BB0-4629-BF22-7D4D4C6D29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enjeux 2/3</a:t>
            </a:r>
          </a:p>
        </p:txBody>
      </p:sp>
      <p:sp>
        <p:nvSpPr>
          <p:cNvPr id="7" name="Espace réservé du contenu 2">
            <a:extLst>
              <a:ext uri="{FF2B5EF4-FFF2-40B4-BE49-F238E27FC236}">
                <a16:creationId xmlns:a16="http://schemas.microsoft.com/office/drawing/2014/main" id="{62CAC85E-A812-47F9-A7C5-91F75568AA15}"/>
              </a:ext>
            </a:extLst>
          </p:cNvPr>
          <p:cNvSpPr txBox="1">
            <a:spLocks/>
          </p:cNvSpPr>
          <p:nvPr/>
        </p:nvSpPr>
        <p:spPr>
          <a:xfrm>
            <a:off x="628650" y="2226469"/>
            <a:ext cx="7886700" cy="326350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2100" b="1" dirty="0">
                <a:solidFill>
                  <a:srgbClr val="111111"/>
                </a:solidFill>
                <a:latin typeface="Arial" panose="020B0604020202020204" pitchFamily="34" charset="0"/>
              </a:rPr>
              <a:t>Embaucher, capitaliser et former</a:t>
            </a:r>
          </a:p>
          <a:p>
            <a:r>
              <a:rPr lang="fr-FR" sz="2100" dirty="0">
                <a:solidFill>
                  <a:srgbClr val="111111"/>
                </a:solidFill>
                <a:latin typeface="Arial" panose="020B0604020202020204" pitchFamily="34" charset="0"/>
              </a:rPr>
              <a:t>Créer des équipes autonomes</a:t>
            </a:r>
          </a:p>
          <a:p>
            <a:r>
              <a:rPr lang="en-US" sz="2100" dirty="0"/>
              <a:t>Data Scientist (n.): Person who is better at statistics than any software engineer and better at software engineering than any statistician</a:t>
            </a:r>
            <a:endParaRPr lang="fr-FR" sz="2100" dirty="0"/>
          </a:p>
          <a:p>
            <a:endParaRPr lang="fr-FR" sz="2100" b="1" dirty="0">
              <a:solidFill>
                <a:srgbClr val="111111"/>
              </a:solidFill>
              <a:latin typeface="Arial" panose="020B0604020202020204" pitchFamily="34" charset="0"/>
            </a:endParaRPr>
          </a:p>
        </p:txBody>
      </p:sp>
      <p:pic>
        <p:nvPicPr>
          <p:cNvPr id="4" name="Picture 2" descr="https://upload.wikimedia.org/wikipedia/commons/4/44/DataScienceDisciplines.png">
            <a:extLst>
              <a:ext uri="{FF2B5EF4-FFF2-40B4-BE49-F238E27FC236}">
                <a16:creationId xmlns:a16="http://schemas.microsoft.com/office/drawing/2014/main" id="{55A7E1B0-1946-4E1F-92C7-9D63F94A7C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4753" y="3667033"/>
            <a:ext cx="3184055" cy="23880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6748478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53CA38B-3BB0-4629-BF22-7D4D4C6D29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enjeux 3/3</a:t>
            </a:r>
          </a:p>
        </p:txBody>
      </p:sp>
      <p:sp>
        <p:nvSpPr>
          <p:cNvPr id="7" name="Espace réservé du contenu 2">
            <a:extLst>
              <a:ext uri="{FF2B5EF4-FFF2-40B4-BE49-F238E27FC236}">
                <a16:creationId xmlns:a16="http://schemas.microsoft.com/office/drawing/2014/main" id="{62CAC85E-A812-47F9-A7C5-91F75568AA15}"/>
              </a:ext>
            </a:extLst>
          </p:cNvPr>
          <p:cNvSpPr txBox="1">
            <a:spLocks/>
          </p:cNvSpPr>
          <p:nvPr/>
        </p:nvSpPr>
        <p:spPr>
          <a:xfrm>
            <a:off x="628650" y="2226469"/>
            <a:ext cx="7886700" cy="326350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2100" b="1" dirty="0">
                <a:solidFill>
                  <a:srgbClr val="111111"/>
                </a:solidFill>
                <a:latin typeface="Arial" panose="020B0604020202020204" pitchFamily="34" charset="0"/>
              </a:rPr>
              <a:t>Mettre en pratique et industrialiser</a:t>
            </a:r>
          </a:p>
        </p:txBody>
      </p:sp>
    </p:spTree>
    <p:extLst>
      <p:ext uri="{BB962C8B-B14F-4D97-AF65-F5344CB8AC3E}">
        <p14:creationId xmlns:p14="http://schemas.microsoft.com/office/powerpoint/2010/main" val="3778129219"/>
      </p:ext>
    </p:extLst>
  </p:cSld>
  <p:clrMapOvr>
    <a:masterClrMapping/>
  </p:clrMapOvr>
</p:sld>
</file>

<file path=ppt/theme/theme1.xml><?xml version="1.0" encoding="utf-8"?>
<a:theme xmlns:a="http://schemas.openxmlformats.org/drawingml/2006/main" name="cvc">
  <a:themeElements>
    <a:clrScheme name="cvc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cvc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cvc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vc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3615</TotalTime>
  <Words>879</Words>
  <Application>Microsoft Office PowerPoint</Application>
  <PresentationFormat>Affichage à l'écran (4:3)</PresentationFormat>
  <Paragraphs>133</Paragraphs>
  <Slides>35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35</vt:i4>
      </vt:variant>
    </vt:vector>
  </HeadingPairs>
  <TitlesOfParts>
    <vt:vector size="39" baseType="lpstr">
      <vt:lpstr>Arial</vt:lpstr>
      <vt:lpstr>Monotype Sorts</vt:lpstr>
      <vt:lpstr>Times New Roman</vt:lpstr>
      <vt:lpstr>cvc</vt:lpstr>
      <vt:lpstr>Présentation PowerPoint</vt:lpstr>
      <vt:lpstr>Présentation PowerPoint</vt:lpstr>
      <vt:lpstr>IA - ML - DL</vt:lpstr>
      <vt:lpstr>1ère étape</vt:lpstr>
      <vt:lpstr>But</vt:lpstr>
      <vt:lpstr>Exemple</vt:lpstr>
      <vt:lpstr>Graphique</vt:lpstr>
      <vt:lpstr>Régression linéaire</vt:lpstr>
      <vt:lpstr>Erreur</vt:lpstr>
      <vt:lpstr>Classification</vt:lpstr>
      <vt:lpstr>Trouver le bon modèle</vt:lpstr>
      <vt:lpstr>Quartet d’Ascombe</vt:lpstr>
      <vt:lpstr>Machine Learning</vt:lpstr>
      <vt:lpstr>Modélisation</vt:lpstr>
      <vt:lpstr>Apprentissage</vt:lpstr>
      <vt:lpstr>Apprentissage</vt:lpstr>
      <vt:lpstr>Prédiction</vt:lpstr>
      <vt:lpstr>But</vt:lpstr>
      <vt:lpstr>Machine Learning vs Programmation</vt:lpstr>
      <vt:lpstr>Exemple</vt:lpstr>
      <vt:lpstr>Workflow</vt:lpstr>
      <vt:lpstr>L'algorithme d'apprentissage</vt:lpstr>
      <vt:lpstr>Exemples</vt:lpstr>
      <vt:lpstr>Les langages et Frameworks</vt:lpstr>
      <vt:lpstr>Les Frameworks ML et DL</vt:lpstr>
      <vt:lpstr>ML vs DL</vt:lpstr>
      <vt:lpstr>Cancer du sein</vt:lpstr>
      <vt:lpstr>ML vs DL</vt:lpstr>
      <vt:lpstr>PyTorch</vt:lpstr>
      <vt:lpstr>Vocabulaire</vt:lpstr>
      <vt:lpstr>Solidification du modèle</vt:lpstr>
      <vt:lpstr>Les enjeux 1/3</vt:lpstr>
      <vt:lpstr>Les nouvelles sources de données</vt:lpstr>
      <vt:lpstr>Les enjeux 2/3</vt:lpstr>
      <vt:lpstr>Les enjeux 3/3</vt:lpstr>
    </vt:vector>
  </TitlesOfParts>
  <Company>jkhjkjkh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Internet</dc:title>
  <dc:creator>jhkhkhkj</dc:creator>
  <cp:lastModifiedBy>Cyril Vincent</cp:lastModifiedBy>
  <cp:revision>283</cp:revision>
  <dcterms:created xsi:type="dcterms:W3CDTF">2000-04-10T19:33:12Z</dcterms:created>
  <dcterms:modified xsi:type="dcterms:W3CDTF">2025-07-25T09:11:56Z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lpwstr>0.1</vt:lpwstr>
  </property>
</Properties>
</file>