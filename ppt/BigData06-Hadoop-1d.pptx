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5"/>
  </p:notesMasterIdLst>
  <p:handoutMasterIdLst>
    <p:handoutMasterId r:id="rId16"/>
  </p:handoutMasterIdLst>
  <p:sldIdLst>
    <p:sldId id="264" r:id="rId2"/>
    <p:sldId id="265" r:id="rId3"/>
    <p:sldId id="266" r:id="rId4"/>
    <p:sldId id="267" r:id="rId5"/>
    <p:sldId id="269" r:id="rId6"/>
    <p:sldId id="270" r:id="rId7"/>
    <p:sldId id="268" r:id="rId8"/>
    <p:sldId id="308" r:id="rId9"/>
    <p:sldId id="307" r:id="rId10"/>
    <p:sldId id="297" r:id="rId11"/>
    <p:sldId id="298" r:id="rId12"/>
    <p:sldId id="282" r:id="rId13"/>
    <p:sldId id="304" r:id="rId14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590" autoAdjust="0"/>
  </p:normalViewPr>
  <p:slideViewPr>
    <p:cSldViewPr>
      <p:cViewPr varScale="1">
        <p:scale>
          <a:sx n="74" d="100"/>
          <a:sy n="74" d="100"/>
        </p:scale>
        <p:origin x="1742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0ABDEA8-EB22-42D4-B8E2-0C26FFC92FC1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3B6F03-2704-4FB7-B539-03DC9F576B43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0" y="0"/>
            <a:ext cx="4550228" cy="7674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3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4634" y="29354"/>
            <a:ext cx="4284966" cy="72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>
              <a:defRPr sz="1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fr-FR" dirty="0"/>
              <a:t>Ecran xx</a:t>
            </a:r>
            <a:br>
              <a:rPr lang="fr-FR" dirty="0"/>
            </a:br>
            <a:r>
              <a:rPr lang="fr-FR" dirty="0"/>
              <a:t>Titre de l’écran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4550229" y="0"/>
            <a:ext cx="4593772" cy="7674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3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62245"/>
            <a:ext cx="4572000" cy="65781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350" baseline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825"/>
            </a:lvl2pPr>
            <a:lvl3pPr>
              <a:defRPr sz="788"/>
            </a:lvl3pPr>
            <a:lvl4pPr>
              <a:defRPr sz="675"/>
            </a:lvl4pPr>
            <a:lvl5pPr>
              <a:defRPr sz="600"/>
            </a:lvl5pPr>
          </a:lstStyle>
          <a:p>
            <a:pPr lvl="0"/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254899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Big</a:t>
            </a:r>
            <a:r>
              <a:rPr lang="fr-FR" sz="1600"/>
              <a:t> Data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19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Chapitre 8</a:t>
            </a:r>
            <a:endParaRPr lang="fr-FR" altLang="fr-FR" dirty="0"/>
          </a:p>
          <a:p>
            <a:pPr eaLnBrk="1" hangingPunct="1"/>
            <a:r>
              <a:rPr lang="fr-FR" altLang="fr-FR" dirty="0" err="1"/>
              <a:t>Hadoop</a:t>
            </a:r>
            <a:endParaRPr lang="fr-FR" alt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594808" y="2132856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Big</a:t>
            </a:r>
            <a:r>
              <a:rPr lang="fr-FR" sz="3600" dirty="0"/>
              <a:t>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Hadoop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Apache Hadoop est une file system </a:t>
            </a:r>
            <a:r>
              <a:rPr lang="fr-FR" dirty="0" err="1"/>
              <a:t>BigData</a:t>
            </a:r>
            <a:r>
              <a:rPr lang="fr-FR" dirty="0"/>
              <a:t> de Google désormais chez Apache</a:t>
            </a:r>
          </a:p>
          <a:p>
            <a:r>
              <a:rPr lang="fr-FR" dirty="0" err="1"/>
              <a:t>NoSql</a:t>
            </a:r>
            <a:endParaRPr lang="fr-FR" dirty="0"/>
          </a:p>
          <a:p>
            <a:r>
              <a:rPr lang="fr-FR" dirty="0"/>
              <a:t>Big Data</a:t>
            </a:r>
          </a:p>
          <a:p>
            <a:pPr lvl="1"/>
            <a:r>
              <a:rPr lang="fr-FR" dirty="0" err="1"/>
              <a:t>Peta</a:t>
            </a:r>
            <a:r>
              <a:rPr lang="fr-FR" dirty="0"/>
              <a:t> octets</a:t>
            </a:r>
          </a:p>
          <a:p>
            <a:r>
              <a:rPr lang="fr-FR" dirty="0"/>
              <a:t>Possède un file system réparti</a:t>
            </a:r>
          </a:p>
          <a:p>
            <a:pPr lvl="1"/>
            <a:r>
              <a:rPr lang="fr-FR" dirty="0"/>
              <a:t>HDFS</a:t>
            </a:r>
          </a:p>
          <a:p>
            <a:r>
              <a:rPr lang="fr-FR" dirty="0"/>
              <a:t>On peut mettre n'importe quoi dessus</a:t>
            </a:r>
          </a:p>
          <a:p>
            <a:pPr lvl="1"/>
            <a:r>
              <a:rPr lang="fr-FR" dirty="0" err="1"/>
              <a:t>Hive</a:t>
            </a:r>
            <a:endParaRPr lang="fr-FR" dirty="0"/>
          </a:p>
          <a:p>
            <a:pPr lvl="1"/>
            <a:r>
              <a:rPr lang="fr-FR" dirty="0"/>
              <a:t>Mongo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026" name="Picture 2" descr="File:Hadoop logo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-237831"/>
            <a:ext cx="63246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271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Hadoop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Très utile pour un </a:t>
            </a:r>
            <a:r>
              <a:rPr lang="fr-FR" dirty="0" err="1"/>
              <a:t>DataLake</a:t>
            </a:r>
            <a:endParaRPr lang="fr-FR" dirty="0"/>
          </a:p>
          <a:p>
            <a:r>
              <a:rPr lang="fr-FR" dirty="0"/>
              <a:t>Complètement 3V</a:t>
            </a:r>
          </a:p>
          <a:p>
            <a:r>
              <a:rPr lang="fr-FR" dirty="0"/>
              <a:t>Possède un ETL pour importer et exporter des données depuis un système classique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45A3126-CF93-DEC2-C5B2-69260044C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3645024"/>
            <a:ext cx="2943636" cy="1428949"/>
          </a:xfrm>
          <a:prstGeom prst="rect">
            <a:avLst/>
          </a:prstGeom>
        </p:spPr>
      </p:pic>
      <p:sp>
        <p:nvSpPr>
          <p:cNvPr id="6" name="AutoShape 2" descr="undefined">
            <a:extLst>
              <a:ext uri="{FF2B5EF4-FFF2-40B4-BE49-F238E27FC236}">
                <a16:creationId xmlns:a16="http://schemas.microsoft.com/office/drawing/2014/main" id="{D56F3C8C-B920-FEFD-B757-CB70697EA9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93BCFE3-CFB5-53EF-E5F1-2D0504B35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29" y="3710833"/>
            <a:ext cx="3858163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38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Démarrage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</a:t>
            </a:r>
            <a:r>
              <a:rPr lang="fr-FR" dirty="0" err="1"/>
              <a:t>hadoop</a:t>
            </a:r>
            <a:r>
              <a:rPr lang="fr-FR" dirty="0"/>
              <a:t>/</a:t>
            </a:r>
            <a:r>
              <a:rPr lang="fr-FR" dirty="0" err="1"/>
              <a:t>sbin</a:t>
            </a:r>
            <a:endParaRPr lang="fr-FR" dirty="0"/>
          </a:p>
          <a:p>
            <a:r>
              <a:rPr lang="fr-FR" dirty="0"/>
              <a:t>Nécessite Java</a:t>
            </a:r>
          </a:p>
          <a:p>
            <a:r>
              <a:rPr lang="fr-FR" dirty="0"/>
              <a:t>Commandes HDFS</a:t>
            </a:r>
          </a:p>
          <a:p>
            <a:pPr lvl="1"/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namenode</a:t>
            </a:r>
            <a:r>
              <a:rPr lang="fr-FR" dirty="0"/>
              <a:t> –format</a:t>
            </a:r>
          </a:p>
          <a:p>
            <a:pPr lvl="1"/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</a:t>
            </a:r>
            <a:r>
              <a:rPr lang="fr-FR" dirty="0"/>
              <a:t> -</a:t>
            </a:r>
            <a:r>
              <a:rPr lang="fr-FR" dirty="0" err="1"/>
              <a:t>ls</a:t>
            </a:r>
            <a:r>
              <a:rPr lang="fr-FR" dirty="0"/>
              <a:t> /</a:t>
            </a:r>
          </a:p>
          <a:p>
            <a:pPr lvl="1"/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</a:t>
            </a:r>
            <a:r>
              <a:rPr lang="fr-FR" dirty="0"/>
              <a:t> -put /d:/hello.txt /</a:t>
            </a:r>
          </a:p>
        </p:txBody>
      </p:sp>
    </p:spTree>
    <p:extLst>
      <p:ext uri="{BB962C8B-B14F-4D97-AF65-F5344CB8AC3E}">
        <p14:creationId xmlns:p14="http://schemas.microsoft.com/office/powerpoint/2010/main" val="3410388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HDFS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HDFS est un système de fichiers distribué</a:t>
            </a:r>
          </a:p>
          <a:p>
            <a:r>
              <a:rPr lang="fr-FR" sz="2000" dirty="0"/>
              <a:t>Dans un cluster, où les données et les services sont stockées sur plusieurs machines différentes, HDFS fonctionne selon un principe maître/esclaves classique</a:t>
            </a:r>
          </a:p>
          <a:p>
            <a:pPr lvl="1"/>
            <a:r>
              <a:rPr lang="fr-FR" sz="1800" dirty="0"/>
              <a:t>Les données y sont stockées sur les </a:t>
            </a:r>
            <a:r>
              <a:rPr lang="fr-FR" sz="1800" dirty="0" err="1"/>
              <a:t>datanodes</a:t>
            </a:r>
            <a:r>
              <a:rPr lang="fr-FR" sz="1800" dirty="0"/>
              <a:t> (esclaves)</a:t>
            </a:r>
          </a:p>
          <a:p>
            <a:pPr lvl="1"/>
            <a:r>
              <a:rPr lang="fr-FR" sz="1800" dirty="0"/>
              <a:t>tandis que les localisations des blocs de données sont répertoriées par le </a:t>
            </a:r>
            <a:r>
              <a:rPr lang="fr-FR" sz="1800" dirty="0" err="1"/>
              <a:t>namenode</a:t>
            </a:r>
            <a:r>
              <a:rPr lang="fr-FR" sz="1800" dirty="0"/>
              <a:t> (maître).</a:t>
            </a:r>
          </a:p>
          <a:p>
            <a:r>
              <a:rPr lang="fr-FR" sz="2000" dirty="0"/>
              <a:t>Chaque fichier est décomposé en blocs de taille maximale fixe</a:t>
            </a:r>
          </a:p>
          <a:p>
            <a:pPr lvl="1"/>
            <a:r>
              <a:rPr lang="fr-FR" sz="1800" dirty="0"/>
              <a:t>Par défaut, cette taille est de 64 Mo</a:t>
            </a:r>
          </a:p>
          <a:p>
            <a:r>
              <a:rPr lang="fr-FR" sz="2000" dirty="0"/>
              <a:t>Ces blocs seront répartis de manière redondante sur les différents data </a:t>
            </a:r>
            <a:r>
              <a:rPr lang="fr-FR" sz="2000" dirty="0" err="1"/>
              <a:t>nodes</a:t>
            </a:r>
            <a:endParaRPr lang="fr-FR" sz="2000" dirty="0"/>
          </a:p>
          <a:p>
            <a:r>
              <a:rPr lang="fr-FR" sz="2000" dirty="0"/>
              <a:t>C'est le </a:t>
            </a:r>
            <a:r>
              <a:rPr lang="fr-FR" sz="2000" dirty="0" err="1"/>
              <a:t>namenode</a:t>
            </a:r>
            <a:r>
              <a:rPr lang="fr-FR" sz="2000" dirty="0"/>
              <a:t> qui sait comment sont décomposés les fichiers et sur quels </a:t>
            </a:r>
            <a:r>
              <a:rPr lang="fr-FR" sz="2000" dirty="0" err="1"/>
              <a:t>datanodes</a:t>
            </a:r>
            <a:r>
              <a:rPr lang="fr-FR" sz="2000" dirty="0"/>
              <a:t> sont stockés ces blocs</a:t>
            </a:r>
          </a:p>
          <a:p>
            <a:r>
              <a:rPr lang="fr-FR" sz="2000" dirty="0"/>
              <a:t>Limite théorique de 512 </a:t>
            </a:r>
            <a:r>
              <a:rPr lang="fr-FR" sz="2000" dirty="0" err="1"/>
              <a:t>Yo</a:t>
            </a:r>
            <a:r>
              <a:rPr lang="fr-FR" sz="2000" dirty="0"/>
              <a:t> (10^12 To)</a:t>
            </a:r>
          </a:p>
        </p:txBody>
      </p:sp>
    </p:spTree>
    <p:extLst>
      <p:ext uri="{BB962C8B-B14F-4D97-AF65-F5344CB8AC3E}">
        <p14:creationId xmlns:p14="http://schemas.microsoft.com/office/powerpoint/2010/main" val="1283226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HDFS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fonctionnement nominal, chaque bloc est stocké sur deux </a:t>
            </a:r>
            <a:r>
              <a:rPr lang="fr-FR" dirty="0" err="1"/>
              <a:t>datanodes</a:t>
            </a:r>
            <a:r>
              <a:rPr lang="fr-FR" dirty="0"/>
              <a:t> différents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564904"/>
            <a:ext cx="5043463" cy="355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89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HDFS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d’accéder à HDFS</a:t>
            </a:r>
          </a:p>
          <a:p>
            <a:endParaRPr lang="fr-FR" dirty="0"/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hdfs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client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hdfs.InsecureClient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("http://localhost:50070")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client.list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("/"))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client.status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("/hello.txt"))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with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client.read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("/hello.txt") as f: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f.read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Les scripts Python </a:t>
            </a:r>
            <a:r>
              <a:rPr lang="en-US" dirty="0" err="1"/>
              <a:t>peuvent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schedulés</a:t>
            </a:r>
            <a:r>
              <a:rPr lang="en-US" dirty="0"/>
              <a:t> et executer sur Hadoop avec Yarn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8075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ACID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Perte de l’acidité</a:t>
            </a:r>
          </a:p>
          <a:p>
            <a:r>
              <a:rPr lang="fr-FR" dirty="0"/>
              <a:t>Atomique</a:t>
            </a:r>
          </a:p>
          <a:p>
            <a:pPr lvl="1"/>
            <a:r>
              <a:rPr lang="fr-FR" dirty="0"/>
              <a:t>Pas de transaction</a:t>
            </a:r>
          </a:p>
          <a:p>
            <a:r>
              <a:rPr lang="fr-FR" dirty="0"/>
              <a:t>Cohérence</a:t>
            </a:r>
          </a:p>
          <a:p>
            <a:pPr lvl="1"/>
            <a:r>
              <a:rPr lang="fr-FR" dirty="0"/>
              <a:t>Différents nœuds peuvent êtres dans un état différent</a:t>
            </a:r>
          </a:p>
          <a:p>
            <a:r>
              <a:rPr lang="fr-FR" dirty="0"/>
              <a:t>Intègre</a:t>
            </a:r>
          </a:p>
          <a:p>
            <a:pPr lvl="1"/>
            <a:r>
              <a:rPr lang="fr-FR" dirty="0"/>
              <a:t>Les champs de ne sont pas typés et les relations non vérifiées</a:t>
            </a:r>
          </a:p>
          <a:p>
            <a:r>
              <a:rPr lang="fr-FR" dirty="0"/>
              <a:t>Disponible</a:t>
            </a:r>
          </a:p>
          <a:p>
            <a:pPr lvl="1"/>
            <a:r>
              <a:rPr lang="fr-FR" dirty="0"/>
              <a:t>Certains nœuds peuvent être down</a:t>
            </a:r>
          </a:p>
        </p:txBody>
      </p:sp>
    </p:spTree>
    <p:extLst>
      <p:ext uri="{BB962C8B-B14F-4D97-AF65-F5344CB8AC3E}">
        <p14:creationId xmlns:p14="http://schemas.microsoft.com/office/powerpoint/2010/main" val="251610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Hive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HBase</a:t>
            </a:r>
            <a:endParaRPr lang="fr-FR" dirty="0"/>
          </a:p>
          <a:p>
            <a:pPr lvl="1"/>
            <a:r>
              <a:rPr lang="fr-FR" dirty="0"/>
              <a:t>Permet de stocker des données tabulaires</a:t>
            </a:r>
          </a:p>
          <a:p>
            <a:pPr lvl="1"/>
            <a:r>
              <a:rPr lang="fr-FR" dirty="0"/>
              <a:t>Relationnel</a:t>
            </a:r>
          </a:p>
          <a:p>
            <a:pPr lvl="1"/>
            <a:r>
              <a:rPr lang="fr-FR" dirty="0"/>
              <a:t>Non ACID</a:t>
            </a:r>
          </a:p>
          <a:p>
            <a:r>
              <a:rPr lang="fr-FR" dirty="0" err="1"/>
              <a:t>Hive</a:t>
            </a:r>
            <a:r>
              <a:rPr lang="fr-FR" dirty="0"/>
              <a:t> Permet de lire des tables relationnelles depuis </a:t>
            </a:r>
            <a:r>
              <a:rPr lang="fr-FR" dirty="0" err="1"/>
              <a:t>Hadoop</a:t>
            </a:r>
            <a:r>
              <a:rPr lang="fr-FR" dirty="0"/>
              <a:t> avec le format </a:t>
            </a:r>
            <a:r>
              <a:rPr lang="fr-FR" dirty="0" err="1"/>
              <a:t>Sql</a:t>
            </a:r>
            <a:endParaRPr lang="fr-FR" dirty="0"/>
          </a:p>
          <a:p>
            <a:pPr lvl="1"/>
            <a:r>
              <a:rPr lang="fr-FR" dirty="0" err="1"/>
              <a:t>HiveQL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098" name="Picture 2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-572705"/>
            <a:ext cx="2184177" cy="19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899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Hue est une interface graphique pour </a:t>
            </a:r>
            <a:r>
              <a:rPr lang="fr-FR" dirty="0" err="1"/>
              <a:t>Hive</a:t>
            </a:r>
            <a:endParaRPr lang="fr-FR" dirty="0"/>
          </a:p>
          <a:p>
            <a:r>
              <a:rPr lang="fr-FR" dirty="0"/>
              <a:t>Compatible Impala et </a:t>
            </a:r>
            <a:r>
              <a:rPr lang="fr-FR" dirty="0" err="1"/>
              <a:t>Hive</a:t>
            </a:r>
            <a:endParaRPr lang="fr-FR" dirty="0"/>
          </a:p>
        </p:txBody>
      </p:sp>
      <p:pic>
        <p:nvPicPr>
          <p:cNvPr id="5122" name="Picture 2" descr="Screen shot of Impala Query Editor being select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420888"/>
            <a:ext cx="8856984" cy="520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072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 1</a:t>
            </a:r>
            <a:r>
              <a:rPr lang="fr-FR" baseline="30000" dirty="0"/>
              <a:t>ère</a:t>
            </a:r>
            <a:r>
              <a:rPr lang="fr-FR" dirty="0"/>
              <a:t> requête</a:t>
            </a:r>
          </a:p>
        </p:txBody>
      </p:sp>
      <p:pic>
        <p:nvPicPr>
          <p:cNvPr id="7170" name="Picture 2" descr="Screen shot of table li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20"/>
            <a:ext cx="10131133" cy="594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881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Map</a:t>
            </a:r>
            <a:r>
              <a:rPr lang="fr-FR" dirty="0"/>
              <a:t> </a:t>
            </a:r>
            <a:r>
              <a:rPr lang="fr-FR" dirty="0" err="1"/>
              <a:t>Reduce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 en Python</a:t>
            </a:r>
          </a:p>
          <a:p>
            <a:r>
              <a:rPr lang="fr-FR" dirty="0" err="1"/>
              <a:t>Map</a:t>
            </a:r>
            <a:r>
              <a:rPr lang="fr-FR" dirty="0"/>
              <a:t> applique une fonction sur une liste de données</a:t>
            </a:r>
          </a:p>
          <a:p>
            <a:r>
              <a:rPr lang="fr-FR" dirty="0" err="1"/>
              <a:t>Reduce</a:t>
            </a:r>
            <a:r>
              <a:rPr lang="fr-FR" dirty="0"/>
              <a:t> agrège le résultat</a:t>
            </a:r>
          </a:p>
          <a:p>
            <a:r>
              <a:rPr lang="fr-FR" dirty="0" err="1"/>
              <a:t>Hadoop</a:t>
            </a:r>
            <a:r>
              <a:rPr lang="fr-FR" dirty="0"/>
              <a:t> ajoute le distribué</a:t>
            </a:r>
          </a:p>
        </p:txBody>
      </p:sp>
      <p:pic>
        <p:nvPicPr>
          <p:cNvPr id="1026" name="Picture 2" descr="https://user.oc-static.com/upload/2017/03/21/14900935617221_Diapositive07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352" y="3534172"/>
            <a:ext cx="3912369" cy="2934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5987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à coins arrondis 40"/>
          <p:cNvSpPr/>
          <p:nvPr/>
        </p:nvSpPr>
        <p:spPr>
          <a:xfrm>
            <a:off x="1265175" y="2745440"/>
            <a:ext cx="5076584" cy="2123719"/>
          </a:xfrm>
          <a:prstGeom prst="roundRect">
            <a:avLst>
              <a:gd name="adj" fmla="val 5538"/>
            </a:avLst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/>
          </a:p>
        </p:txBody>
      </p:sp>
      <p:sp>
        <p:nvSpPr>
          <p:cNvPr id="47" name="Titre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500" dirty="0">
                <a:latin typeface="+mn-lt"/>
              </a:rPr>
              <a:t>Apache Spark – fiche d’identité</a:t>
            </a:r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  <a:p>
            <a:pPr marL="214313" indent="-214313">
              <a:buFontTx/>
              <a:buChar char="-"/>
            </a:pPr>
            <a:endParaRPr lang="fr-FR" sz="105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pSp>
        <p:nvGrpSpPr>
          <p:cNvPr id="105" name="Groupe 104"/>
          <p:cNvGrpSpPr/>
          <p:nvPr/>
        </p:nvGrpSpPr>
        <p:grpSpPr>
          <a:xfrm>
            <a:off x="559081" y="1597264"/>
            <a:ext cx="5299520" cy="414060"/>
            <a:chOff x="2691257" y="529120"/>
            <a:chExt cx="7066026" cy="552080"/>
          </a:xfrm>
        </p:grpSpPr>
        <p:sp>
          <p:nvSpPr>
            <p:cNvPr id="106" name="Pentagone 105"/>
            <p:cNvSpPr/>
            <p:nvPr/>
          </p:nvSpPr>
          <p:spPr>
            <a:xfrm>
              <a:off x="2691257" y="667723"/>
              <a:ext cx="7066026" cy="288000"/>
            </a:xfrm>
            <a:prstGeom prst="homePlat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 dirty="0"/>
            </a:p>
          </p:txBody>
        </p:sp>
        <p:sp>
          <p:nvSpPr>
            <p:cNvPr id="123" name="Ellipse 122"/>
            <p:cNvSpPr/>
            <p:nvPr/>
          </p:nvSpPr>
          <p:spPr>
            <a:xfrm>
              <a:off x="5381632" y="529121"/>
              <a:ext cx="551453" cy="54903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 dirty="0"/>
            </a:p>
          </p:txBody>
        </p:sp>
        <p:sp>
          <p:nvSpPr>
            <p:cNvPr id="121" name="Ellipse 120"/>
            <p:cNvSpPr/>
            <p:nvPr/>
          </p:nvSpPr>
          <p:spPr>
            <a:xfrm>
              <a:off x="4264756" y="529120"/>
              <a:ext cx="551453" cy="5490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 dirty="0"/>
            </a:p>
          </p:txBody>
        </p:sp>
        <p:sp>
          <p:nvSpPr>
            <p:cNvPr id="119" name="Ellipse 118"/>
            <p:cNvSpPr/>
            <p:nvPr/>
          </p:nvSpPr>
          <p:spPr>
            <a:xfrm>
              <a:off x="3147880" y="529120"/>
              <a:ext cx="551453" cy="5490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 dirty="0"/>
            </a:p>
          </p:txBody>
        </p:sp>
        <p:sp>
          <p:nvSpPr>
            <p:cNvPr id="117" name="Ellipse 116"/>
            <p:cNvSpPr/>
            <p:nvPr/>
          </p:nvSpPr>
          <p:spPr>
            <a:xfrm>
              <a:off x="6498508" y="529122"/>
              <a:ext cx="551453" cy="5490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 dirty="0"/>
            </a:p>
          </p:txBody>
        </p:sp>
        <p:grpSp>
          <p:nvGrpSpPr>
            <p:cNvPr id="111" name="Groupe 110"/>
            <p:cNvGrpSpPr/>
            <p:nvPr/>
          </p:nvGrpSpPr>
          <p:grpSpPr>
            <a:xfrm>
              <a:off x="8732261" y="529120"/>
              <a:ext cx="551453" cy="549030"/>
              <a:chOff x="9401004" y="529120"/>
              <a:chExt cx="551453" cy="549030"/>
            </a:xfrm>
          </p:grpSpPr>
          <p:sp>
            <p:nvSpPr>
              <p:cNvPr id="115" name="Ellipse 114"/>
              <p:cNvSpPr/>
              <p:nvPr/>
            </p:nvSpPr>
            <p:spPr>
              <a:xfrm>
                <a:off x="9401004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 dirty="0"/>
              </a:p>
            </p:txBody>
          </p:sp>
          <p:pic>
            <p:nvPicPr>
              <p:cNvPr id="116" name="Image 115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4466" y="667723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113" name="Ellipse 112"/>
            <p:cNvSpPr/>
            <p:nvPr/>
          </p:nvSpPr>
          <p:spPr>
            <a:xfrm>
              <a:off x="7615384" y="532170"/>
              <a:ext cx="551453" cy="5490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 dirty="0"/>
            </a:p>
          </p:txBody>
        </p:sp>
      </p:grpSp>
      <p:pic>
        <p:nvPicPr>
          <p:cNvPr id="27" name="Image 26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987" y="1675400"/>
            <a:ext cx="243000" cy="243000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404" y="1675400"/>
            <a:ext cx="243000" cy="243000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618" y="1685636"/>
            <a:ext cx="243000" cy="243000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077" y="1684669"/>
            <a:ext cx="220909" cy="220909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8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214" y="1684896"/>
            <a:ext cx="243000" cy="24300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51977"/>
          <a:stretch/>
        </p:blipFill>
        <p:spPr>
          <a:xfrm>
            <a:off x="8439" y="2339575"/>
            <a:ext cx="1101286" cy="2399717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8199" y="5218466"/>
            <a:ext cx="1691986" cy="699529"/>
          </a:xfrm>
          <a:prstGeom prst="rect">
            <a:avLst/>
          </a:prstGeom>
        </p:spPr>
      </p:pic>
      <p:grpSp>
        <p:nvGrpSpPr>
          <p:cNvPr id="35" name="Groupe 34"/>
          <p:cNvGrpSpPr/>
          <p:nvPr/>
        </p:nvGrpSpPr>
        <p:grpSpPr>
          <a:xfrm>
            <a:off x="1420398" y="2882594"/>
            <a:ext cx="1634151" cy="840869"/>
            <a:chOff x="3824998" y="3986656"/>
            <a:chExt cx="2178868" cy="1121159"/>
          </a:xfrm>
        </p:grpSpPr>
        <p:sp>
          <p:nvSpPr>
            <p:cNvPr id="36" name="Rectangle à coins arrondis 35"/>
            <p:cNvSpPr/>
            <p:nvPr/>
          </p:nvSpPr>
          <p:spPr>
            <a:xfrm>
              <a:off x="3824998" y="3986656"/>
              <a:ext cx="2178868" cy="11211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 dirty="0"/>
            </a:p>
          </p:txBody>
        </p:sp>
        <p:pic>
          <p:nvPicPr>
            <p:cNvPr id="37" name="Image 36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9310" y="4097235"/>
              <a:ext cx="1690245" cy="900000"/>
            </a:xfrm>
            <a:prstGeom prst="rect">
              <a:avLst/>
            </a:prstGeom>
          </p:spPr>
        </p:pic>
      </p:grpSp>
      <p:sp>
        <p:nvSpPr>
          <p:cNvPr id="39" name="Rectangle 38"/>
          <p:cNvSpPr/>
          <p:nvPr/>
        </p:nvSpPr>
        <p:spPr>
          <a:xfrm>
            <a:off x="3176449" y="2957350"/>
            <a:ext cx="3104462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Spark est un moteur de traitement permettant le traitement de large volumes de données, de manière distribuée.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89127" y="3883001"/>
            <a:ext cx="4815731" cy="860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Langage(s) : 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R, Python, Scala, Java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1400" i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Spark propose aussi des bibliothèques de Machine Learning</a:t>
            </a:r>
          </a:p>
        </p:txBody>
      </p:sp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68841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3895</TotalTime>
  <Words>443</Words>
  <Application>Microsoft Office PowerPoint</Application>
  <PresentationFormat>Affichage à l'écran (4:3)</PresentationFormat>
  <Paragraphs>78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Yu Gothic Light</vt:lpstr>
      <vt:lpstr>Arial</vt:lpstr>
      <vt:lpstr>Calibri</vt:lpstr>
      <vt:lpstr>Courier New</vt:lpstr>
      <vt:lpstr>Monotype Sorts</vt:lpstr>
      <vt:lpstr>Times New Roman</vt:lpstr>
      <vt:lpstr>cvc</vt:lpstr>
      <vt:lpstr>Présentation PowerPoint</vt:lpstr>
      <vt:lpstr>Hadoop</vt:lpstr>
      <vt:lpstr>Hadoop</vt:lpstr>
      <vt:lpstr>Démarrage</vt:lpstr>
      <vt:lpstr>HDFS</vt:lpstr>
      <vt:lpstr>HDFS</vt:lpstr>
      <vt:lpstr>Python HDFS</vt:lpstr>
      <vt:lpstr>ACID</vt:lpstr>
      <vt:lpstr>Hive</vt:lpstr>
      <vt:lpstr>Hue</vt:lpstr>
      <vt:lpstr>Ma 1ère requête</vt:lpstr>
      <vt:lpstr>Map Reduce</vt:lpstr>
      <vt:lpstr>Apache Spark – fiche d’identité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276</cp:revision>
  <dcterms:created xsi:type="dcterms:W3CDTF">2000-04-10T19:33:12Z</dcterms:created>
  <dcterms:modified xsi:type="dcterms:W3CDTF">2025-07-22T09:04:58Z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